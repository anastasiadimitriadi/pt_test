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9" r:id="rId3"/>
    <p:sldId id="260" r:id="rId4"/>
    <p:sldId id="262" r:id="rId5"/>
    <p:sldId id="265" r:id="rId6"/>
    <p:sldId id="263" r:id="rId7"/>
    <p:sldId id="266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2143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0293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58333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5618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519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0318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83898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767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8103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0897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93635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7856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01259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32905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2742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82727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7586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8FFB8AE-D433-4A67-82F2-013DE0D0A8FA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l-G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E215245-B6AB-4E3A-B7DD-6D11AB42438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3329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BD7B-EA17-35E9-DC90-F82046C4F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387833"/>
            <a:ext cx="9035845" cy="336114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LoadRunner</a:t>
            </a:r>
            <a:br>
              <a:rPr lang="en-US" b="1" dirty="0"/>
            </a:br>
            <a:r>
              <a:rPr lang="en-US" b="1" dirty="0"/>
              <a:t>VS</a:t>
            </a:r>
            <a:br>
              <a:rPr lang="en-US" b="1" dirty="0"/>
            </a:br>
            <a:r>
              <a:rPr lang="en-US" b="1" dirty="0"/>
              <a:t>UTF ONE</a:t>
            </a:r>
            <a:endParaRPr lang="el-GR" b="1" dirty="0"/>
          </a:p>
        </p:txBody>
      </p:sp>
    </p:spTree>
    <p:extLst>
      <p:ext uri="{BB962C8B-B14F-4D97-AF65-F5344CB8AC3E}">
        <p14:creationId xmlns:p14="http://schemas.microsoft.com/office/powerpoint/2010/main" val="100682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5A17-EDC2-B60D-FF45-07537B5C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Load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r>
              <a:rPr lang="el-GR" b="1" dirty="0"/>
              <a:t> </a:t>
            </a:r>
            <a:r>
              <a:rPr lang="el-GR" b="1" dirty="0" err="1"/>
              <a:t>vs</a:t>
            </a:r>
            <a:r>
              <a:rPr lang="el-GR" b="1" dirty="0"/>
              <a:t> </a:t>
            </a:r>
            <a:r>
              <a:rPr lang="el-GR" b="1" dirty="0" err="1"/>
              <a:t>Regression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endParaRPr lang="el-GR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34E943-CB93-3E3C-DA3B-ECD072A6A0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656238"/>
              </p:ext>
            </p:extLst>
          </p:nvPr>
        </p:nvGraphicFramePr>
        <p:xfrm>
          <a:off x="1173223" y="2292221"/>
          <a:ext cx="9845554" cy="4565779"/>
        </p:xfrm>
        <a:graphic>
          <a:graphicData uri="http://schemas.openxmlformats.org/drawingml/2006/table">
            <a:tbl>
              <a:tblPr/>
              <a:tblGrid>
                <a:gridCol w="2016443">
                  <a:extLst>
                    <a:ext uri="{9D8B030D-6E8A-4147-A177-3AD203B41FA5}">
                      <a16:colId xmlns:a16="http://schemas.microsoft.com/office/drawing/2014/main" val="774707405"/>
                    </a:ext>
                  </a:extLst>
                </a:gridCol>
                <a:gridCol w="3819621">
                  <a:extLst>
                    <a:ext uri="{9D8B030D-6E8A-4147-A177-3AD203B41FA5}">
                      <a16:colId xmlns:a16="http://schemas.microsoft.com/office/drawing/2014/main" val="1568495472"/>
                    </a:ext>
                  </a:extLst>
                </a:gridCol>
                <a:gridCol w="4009490">
                  <a:extLst>
                    <a:ext uri="{9D8B030D-6E8A-4147-A177-3AD203B41FA5}">
                      <a16:colId xmlns:a16="http://schemas.microsoft.com/office/drawing/2014/main" val="93856117"/>
                    </a:ext>
                  </a:extLst>
                </a:gridCol>
              </a:tblGrid>
              <a:tr h="54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 dirty="0"/>
                        <a:t>Χαρακτηριστικό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 err="1"/>
                        <a:t>Load</a:t>
                      </a:r>
                      <a:r>
                        <a:rPr lang="el-GR" dirty="0"/>
                        <a:t> </a:t>
                      </a:r>
                      <a:r>
                        <a:rPr lang="el-GR" dirty="0" err="1"/>
                        <a:t>Testing</a:t>
                      </a:r>
                      <a:endParaRPr lang="el-G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Regression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421690"/>
                  </a:ext>
                </a:extLst>
              </a:tr>
              <a:tr h="855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 dirty="0"/>
                        <a:t>Σκοπός</a:t>
                      </a:r>
                      <a:endParaRPr lang="el-G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Αξιολόγηση της απόδοσης υπό φόρτο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Επιβεβαίωση ότι οι αλλαγές δεν επηρεάζουν υπάρχουσες λειτουργίες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235553"/>
                  </a:ext>
                </a:extLst>
              </a:tr>
              <a:tr h="598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Εστιάζει σε</a:t>
                      </a:r>
                      <a:endParaRPr lang="el-G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Απόδοση, κλιμάκωση, σταθερότητα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Λειτουργικότητα και επιχειρησιακές ροές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110320"/>
                  </a:ext>
                </a:extLst>
              </a:tr>
              <a:tr h="598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Πότε εκτελείται</a:t>
                      </a:r>
                      <a:endParaRPr lang="el-G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Πριν από παραγωγική λειτουργία ή μεγάλες καμπάνιες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Μετά από κάθε αλλαγή, διόρθωση ή νέο release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682343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Κύρια Ερώτηση</a:t>
                      </a:r>
                      <a:endParaRPr lang="el-G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«Πόσους χρήστες μπορεί να εξυπηρετήσει το σύστημα;»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«Συνεχίζουν να λειτουργούν σωστά οι υπάρχουσες λειτουργίες;»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858039"/>
                  </a:ext>
                </a:extLst>
              </a:tr>
              <a:tr h="598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 dirty="0"/>
                        <a:t>Μετρικές</a:t>
                      </a:r>
                      <a:endParaRPr lang="el-G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Response Time, Throughput, Resource Utilization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Pass/Fail Tests, Defects,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343341"/>
                  </a:ext>
                </a:extLst>
              </a:tr>
              <a:tr h="54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Τυπικό Εργαλείο</a:t>
                      </a:r>
                      <a:endParaRPr lang="el-G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 err="1"/>
                        <a:t>LoadRunner</a:t>
                      </a:r>
                      <a:endParaRPr lang="el-G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UFT </a:t>
                      </a:r>
                      <a:r>
                        <a:rPr lang="el-GR" dirty="0" err="1"/>
                        <a:t>One</a:t>
                      </a:r>
                      <a:endParaRPr lang="el-G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449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52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52D15-95AA-4183-06BE-DCDD82BD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Παραδείγματα χρήσης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05D9-F1B1-93D1-8AFB-72A720206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b="1" dirty="0" err="1"/>
              <a:t>Load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endParaRPr lang="el-GR" dirty="0"/>
          </a:p>
          <a:p>
            <a:r>
              <a:rPr lang="el-GR" dirty="0"/>
              <a:t>Προσομοίωση 10.000 ταυτόχρονων χρηστών σε e-</a:t>
            </a:r>
            <a:r>
              <a:rPr lang="el-GR" dirty="0" err="1"/>
              <a:t>shop</a:t>
            </a:r>
            <a:r>
              <a:rPr lang="el-GR" dirty="0"/>
              <a:t> κατά τη διάρκεια </a:t>
            </a:r>
            <a:r>
              <a:rPr lang="el-GR" dirty="0" err="1"/>
              <a:t>Black</a:t>
            </a:r>
            <a:r>
              <a:rPr lang="el-GR" dirty="0"/>
              <a:t> </a:t>
            </a:r>
            <a:r>
              <a:rPr lang="el-GR" dirty="0" err="1"/>
              <a:t>Friday</a:t>
            </a:r>
            <a:r>
              <a:rPr lang="el-GR" dirty="0"/>
              <a:t>.</a:t>
            </a:r>
            <a:endParaRPr lang="en-US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l-GR" b="1" dirty="0" err="1"/>
              <a:t>Regression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endParaRPr lang="el-GR" dirty="0"/>
          </a:p>
          <a:p>
            <a:r>
              <a:rPr lang="el-GR" dirty="0"/>
              <a:t>Έλεγχος ότι </a:t>
            </a:r>
            <a:r>
              <a:rPr lang="el-GR" dirty="0" err="1"/>
              <a:t>Login</a:t>
            </a:r>
            <a:r>
              <a:rPr lang="el-GR" dirty="0"/>
              <a:t>, </a:t>
            </a:r>
            <a:r>
              <a:rPr lang="el-GR" dirty="0" err="1"/>
              <a:t>Search</a:t>
            </a:r>
            <a:r>
              <a:rPr lang="el-GR" dirty="0"/>
              <a:t>, </a:t>
            </a:r>
            <a:r>
              <a:rPr lang="el-GR" dirty="0" err="1"/>
              <a:t>Cart</a:t>
            </a:r>
            <a:r>
              <a:rPr lang="el-GR" dirty="0"/>
              <a:t> και </a:t>
            </a:r>
            <a:r>
              <a:rPr lang="el-GR" dirty="0" err="1"/>
              <a:t>Checkout</a:t>
            </a:r>
            <a:r>
              <a:rPr lang="el-GR" dirty="0"/>
              <a:t> συνεχίζουν να λειτουργούν μετά από νέα έκδοση της εφαρμογής.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66155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E7C86-5715-FEEF-6D47-1397A7CB8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658"/>
            <a:ext cx="10515600" cy="796414"/>
          </a:xfrm>
        </p:spPr>
        <p:txBody>
          <a:bodyPr>
            <a:normAutofit/>
          </a:bodyPr>
          <a:lstStyle/>
          <a:p>
            <a:pPr algn="ctr"/>
            <a:r>
              <a:rPr lang="el-GR" b="1" dirty="0" err="1"/>
              <a:t>LoadRunner</a:t>
            </a:r>
            <a:r>
              <a:rPr lang="el-GR" b="1" dirty="0"/>
              <a:t> </a:t>
            </a:r>
            <a:r>
              <a:rPr lang="el-GR" b="1" dirty="0" err="1"/>
              <a:t>Integration</a:t>
            </a:r>
            <a:endParaRPr lang="el-G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5A34-9597-C49C-B315-3E672CC0E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1470"/>
            <a:ext cx="10515600" cy="3465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b="1" dirty="0" err="1"/>
              <a:t>Out</a:t>
            </a:r>
            <a:r>
              <a:rPr lang="el-GR" b="1" dirty="0"/>
              <a:t>-of-the-</a:t>
            </a:r>
            <a:r>
              <a:rPr lang="el-GR" b="1" dirty="0" err="1"/>
              <a:t>box</a:t>
            </a:r>
            <a:r>
              <a:rPr lang="el-GR" b="1" dirty="0"/>
              <a:t> </a:t>
            </a:r>
            <a:r>
              <a:rPr lang="el-GR" b="1" dirty="0" err="1"/>
              <a:t>Integrations</a:t>
            </a:r>
            <a:endParaRPr lang="el-GR" b="1" dirty="0"/>
          </a:p>
          <a:p>
            <a:r>
              <a:rPr lang="el-GR" dirty="0"/>
              <a:t>Ενσωμάτωση με </a:t>
            </a:r>
            <a:r>
              <a:rPr lang="el-GR" b="1" dirty="0"/>
              <a:t>CI/CD εργαλεία</a:t>
            </a:r>
            <a:r>
              <a:rPr lang="el-GR" dirty="0"/>
              <a:t> (</a:t>
            </a:r>
            <a:r>
              <a:rPr lang="el-GR" dirty="0" err="1"/>
              <a:t>Jenkins</a:t>
            </a:r>
            <a:r>
              <a:rPr lang="el-GR" dirty="0"/>
              <a:t>, </a:t>
            </a:r>
            <a:r>
              <a:rPr lang="el-GR" dirty="0" err="1"/>
              <a:t>Azure</a:t>
            </a:r>
            <a:r>
              <a:rPr lang="el-GR" dirty="0"/>
              <a:t> </a:t>
            </a:r>
            <a:r>
              <a:rPr lang="el-GR" dirty="0" err="1"/>
              <a:t>DevOps</a:t>
            </a:r>
            <a:r>
              <a:rPr lang="el-GR" dirty="0"/>
              <a:t>) </a:t>
            </a:r>
          </a:p>
          <a:p>
            <a:r>
              <a:rPr lang="el-GR" dirty="0"/>
              <a:t>Σύνδεση με </a:t>
            </a:r>
            <a:r>
              <a:rPr lang="el-GR" b="1" dirty="0"/>
              <a:t>ALM / Quality </a:t>
            </a:r>
            <a:r>
              <a:rPr lang="el-GR" b="1" dirty="0" err="1"/>
              <a:t>Center</a:t>
            </a:r>
            <a:r>
              <a:rPr lang="el-GR" dirty="0"/>
              <a:t> </a:t>
            </a:r>
          </a:p>
          <a:p>
            <a:r>
              <a:rPr lang="el-GR" dirty="0" err="1"/>
              <a:t>Integration</a:t>
            </a:r>
            <a:r>
              <a:rPr lang="el-GR" dirty="0"/>
              <a:t> με </a:t>
            </a:r>
            <a:r>
              <a:rPr lang="el-GR" b="1" dirty="0" err="1"/>
              <a:t>Dynatrace</a:t>
            </a:r>
            <a:r>
              <a:rPr lang="el-GR" b="1" dirty="0"/>
              <a:t> / </a:t>
            </a:r>
            <a:r>
              <a:rPr lang="el-GR" b="1" dirty="0" err="1"/>
              <a:t>AppDynamics</a:t>
            </a:r>
            <a:r>
              <a:rPr lang="el-GR" b="1" dirty="0"/>
              <a:t> / </a:t>
            </a:r>
            <a:r>
              <a:rPr lang="el-GR" b="1" dirty="0" err="1"/>
              <a:t>New</a:t>
            </a:r>
            <a:r>
              <a:rPr lang="el-GR" b="1" dirty="0"/>
              <a:t> </a:t>
            </a:r>
            <a:r>
              <a:rPr lang="el-GR" b="1" dirty="0" err="1"/>
              <a:t>Relic</a:t>
            </a:r>
            <a:r>
              <a:rPr lang="el-GR" dirty="0"/>
              <a:t> για </a:t>
            </a:r>
            <a:r>
              <a:rPr lang="el-GR" dirty="0" err="1"/>
              <a:t>monitoring</a:t>
            </a:r>
            <a:r>
              <a:rPr lang="el-GR" dirty="0"/>
              <a:t> </a:t>
            </a:r>
          </a:p>
          <a:p>
            <a:r>
              <a:rPr lang="el-GR" dirty="0"/>
              <a:t>Υποστήριξη API-</a:t>
            </a:r>
            <a:r>
              <a:rPr lang="el-GR" dirty="0" err="1"/>
              <a:t>driven</a:t>
            </a:r>
            <a:r>
              <a:rPr lang="el-GR" dirty="0"/>
              <a:t> </a:t>
            </a:r>
            <a:r>
              <a:rPr lang="el-GR" dirty="0" err="1"/>
              <a:t>automation</a:t>
            </a:r>
            <a:r>
              <a:rPr lang="el-GR" dirty="0"/>
              <a:t> </a:t>
            </a:r>
          </a:p>
          <a:p>
            <a:r>
              <a:rPr lang="el-GR" dirty="0" err="1"/>
              <a:t>Export</a:t>
            </a:r>
            <a:r>
              <a:rPr lang="el-GR" dirty="0"/>
              <a:t> αποτελεσμάτων σε </a:t>
            </a:r>
            <a:r>
              <a:rPr lang="el-GR" dirty="0" err="1"/>
              <a:t>dashboards</a:t>
            </a:r>
            <a:r>
              <a:rPr lang="el-GR" dirty="0"/>
              <a:t> και </a:t>
            </a:r>
            <a:r>
              <a:rPr lang="el-GR" dirty="0" err="1"/>
              <a:t>reporting</a:t>
            </a:r>
            <a:r>
              <a:rPr lang="el-GR" dirty="0"/>
              <a:t> </a:t>
            </a:r>
            <a:r>
              <a:rPr lang="el-GR" dirty="0" err="1"/>
              <a:t>tools</a:t>
            </a:r>
            <a:endParaRPr lang="en-US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43579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EAD1-0A5B-E4E9-C97F-9E20884F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LoadRunner</a:t>
            </a:r>
            <a:r>
              <a:rPr lang="el-GR" b="1" dirty="0"/>
              <a:t> </a:t>
            </a: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Value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AA82-4382-7B22-06E8-E32C27C8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2574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Sales</a:t>
            </a:r>
            <a:r>
              <a:rPr lang="el-GR" b="1" dirty="0"/>
              <a:t> </a:t>
            </a:r>
            <a:r>
              <a:rPr lang="el-GR" b="1" dirty="0" err="1"/>
              <a:t>Points</a:t>
            </a:r>
            <a:r>
              <a:rPr lang="el-GR" b="1" dirty="0"/>
              <a:t> (Επιχειρηματική Αξία)</a:t>
            </a:r>
          </a:p>
          <a:p>
            <a:r>
              <a:rPr lang="el-GR" dirty="0"/>
              <a:t>Μείωση ρίσκου σε παραγωγικά περιβάλλοντα (</a:t>
            </a:r>
            <a:r>
              <a:rPr lang="el-GR" dirty="0" err="1"/>
              <a:t>production</a:t>
            </a:r>
            <a:r>
              <a:rPr lang="el-GR" dirty="0"/>
              <a:t> </a:t>
            </a:r>
            <a:r>
              <a:rPr lang="el-GR" dirty="0" err="1"/>
              <a:t>outages</a:t>
            </a:r>
            <a:r>
              <a:rPr lang="el-GR" dirty="0"/>
              <a:t>) </a:t>
            </a:r>
          </a:p>
          <a:p>
            <a:r>
              <a:rPr lang="el-GR" dirty="0"/>
              <a:t>Εξασφάλιση </a:t>
            </a:r>
            <a:r>
              <a:rPr lang="el-GR" dirty="0" err="1"/>
              <a:t>performance</a:t>
            </a:r>
            <a:r>
              <a:rPr lang="el-GR" dirty="0"/>
              <a:t> πριν από μεγάλα </a:t>
            </a:r>
            <a:r>
              <a:rPr lang="el-GR" dirty="0" err="1"/>
              <a:t>releases</a:t>
            </a:r>
            <a:r>
              <a:rPr lang="el-GR" dirty="0"/>
              <a:t> </a:t>
            </a:r>
          </a:p>
          <a:p>
            <a:r>
              <a:rPr lang="el-GR" dirty="0"/>
              <a:t>Δυνατότητα προσομοίωσης </a:t>
            </a:r>
            <a:r>
              <a:rPr lang="el-GR" dirty="0" err="1"/>
              <a:t>real-world</a:t>
            </a:r>
            <a:r>
              <a:rPr lang="el-GR" dirty="0"/>
              <a:t> </a:t>
            </a:r>
            <a:r>
              <a:rPr lang="el-GR" dirty="0" err="1"/>
              <a:t>traffic</a:t>
            </a:r>
            <a:r>
              <a:rPr lang="el-GR" dirty="0"/>
              <a:t> (</a:t>
            </a:r>
            <a:r>
              <a:rPr lang="el-GR" dirty="0" err="1"/>
              <a:t>Black</a:t>
            </a:r>
            <a:r>
              <a:rPr lang="el-GR" dirty="0"/>
              <a:t> </a:t>
            </a:r>
            <a:r>
              <a:rPr lang="el-GR" dirty="0" err="1"/>
              <a:t>Friday</a:t>
            </a:r>
            <a:r>
              <a:rPr lang="el-GR" dirty="0"/>
              <a:t>, </a:t>
            </a:r>
            <a:r>
              <a:rPr lang="el-GR" dirty="0" err="1"/>
              <a:t>peak</a:t>
            </a:r>
            <a:r>
              <a:rPr lang="el-GR" dirty="0"/>
              <a:t> </a:t>
            </a:r>
            <a:r>
              <a:rPr lang="el-GR" dirty="0" err="1"/>
              <a:t>load</a:t>
            </a:r>
            <a:r>
              <a:rPr lang="el-GR" dirty="0"/>
              <a:t>) </a:t>
            </a:r>
          </a:p>
          <a:p>
            <a:r>
              <a:rPr lang="el-GR" dirty="0"/>
              <a:t>Εντοπισμός </a:t>
            </a:r>
            <a:r>
              <a:rPr lang="el-GR" dirty="0" err="1"/>
              <a:t>bottlenecks</a:t>
            </a:r>
            <a:r>
              <a:rPr lang="el-GR" dirty="0"/>
              <a:t> πριν επηρεάσουν τους χρήστες </a:t>
            </a:r>
          </a:p>
          <a:p>
            <a:r>
              <a:rPr lang="el-GR" dirty="0"/>
              <a:t>Υποστήριξη </a:t>
            </a:r>
            <a:r>
              <a:rPr lang="el-GR" dirty="0" err="1"/>
              <a:t>enterprise-scale</a:t>
            </a:r>
            <a:r>
              <a:rPr lang="el-GR" dirty="0"/>
              <a:t> εφαρμογών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E93D9-CC9D-6D47-55CB-2A6056698189}"/>
              </a:ext>
            </a:extLst>
          </p:cNvPr>
          <p:cNvSpPr txBox="1"/>
          <p:nvPr/>
        </p:nvSpPr>
        <p:spPr>
          <a:xfrm>
            <a:off x="648586" y="5576555"/>
            <a:ext cx="10451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«Εξασφαλίστε ότι η εφαρμογή σας αποδίδει σωστά υπό οποιοδήποτε φορτίο πριν περάσει σε παραγωγικό περιβάλλον.»</a:t>
            </a:r>
          </a:p>
        </p:txBody>
      </p:sp>
    </p:spTree>
    <p:extLst>
      <p:ext uri="{BB962C8B-B14F-4D97-AF65-F5344CB8AC3E}">
        <p14:creationId xmlns:p14="http://schemas.microsoft.com/office/powerpoint/2010/main" val="245789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234A-D2FC-01B4-163A-3B0986E3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UFT </a:t>
            </a:r>
            <a:r>
              <a:rPr lang="el-GR" b="1" dirty="0" err="1"/>
              <a:t>One</a:t>
            </a:r>
            <a:r>
              <a:rPr lang="el-GR" b="1" dirty="0"/>
              <a:t> </a:t>
            </a:r>
            <a:r>
              <a:rPr lang="el-GR" b="1" dirty="0" err="1"/>
              <a:t>Integration</a:t>
            </a:r>
            <a:endParaRPr lang="el-G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40293-B477-69CE-DEFD-77B7F44FA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353" y="2963467"/>
            <a:ext cx="8761412" cy="25494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1500" b="1" dirty="0" err="1"/>
              <a:t>Out</a:t>
            </a:r>
            <a:r>
              <a:rPr lang="el-GR" sz="1500" b="1" dirty="0"/>
              <a:t>-of-the-</a:t>
            </a:r>
            <a:r>
              <a:rPr lang="el-GR" sz="1500" b="1" dirty="0" err="1"/>
              <a:t>box</a:t>
            </a:r>
            <a:r>
              <a:rPr lang="el-GR" sz="1500" b="1" dirty="0"/>
              <a:t> </a:t>
            </a:r>
            <a:r>
              <a:rPr lang="el-GR" sz="1500" b="1" dirty="0" err="1"/>
              <a:t>Integrations</a:t>
            </a:r>
            <a:endParaRPr lang="el-GR" sz="1500" b="1" dirty="0"/>
          </a:p>
          <a:p>
            <a:r>
              <a:rPr lang="el-GR" sz="1500" dirty="0" err="1"/>
              <a:t>Integration</a:t>
            </a:r>
            <a:r>
              <a:rPr lang="el-GR" sz="1500" dirty="0"/>
              <a:t> με </a:t>
            </a:r>
            <a:r>
              <a:rPr lang="el-GR" sz="1500" b="1" dirty="0"/>
              <a:t>ALM / Quality </a:t>
            </a:r>
            <a:r>
              <a:rPr lang="el-GR" sz="1500" b="1" dirty="0" err="1"/>
              <a:t>Center</a:t>
            </a:r>
            <a:r>
              <a:rPr lang="el-GR" sz="1500" dirty="0"/>
              <a:t> </a:t>
            </a:r>
          </a:p>
          <a:p>
            <a:r>
              <a:rPr lang="el-GR" sz="1500" dirty="0"/>
              <a:t>CI/CD </a:t>
            </a:r>
            <a:r>
              <a:rPr lang="el-GR" sz="1500" dirty="0" err="1"/>
              <a:t>pipelines</a:t>
            </a:r>
            <a:r>
              <a:rPr lang="el-GR" sz="1500" dirty="0"/>
              <a:t> (</a:t>
            </a:r>
            <a:r>
              <a:rPr lang="el-GR" sz="1500" dirty="0" err="1"/>
              <a:t>Jenkins</a:t>
            </a:r>
            <a:r>
              <a:rPr lang="el-GR" sz="1500" dirty="0"/>
              <a:t>, </a:t>
            </a:r>
            <a:r>
              <a:rPr lang="el-GR" sz="1500" dirty="0" err="1"/>
              <a:t>Azure</a:t>
            </a:r>
            <a:r>
              <a:rPr lang="el-GR" sz="1500" dirty="0"/>
              <a:t> </a:t>
            </a:r>
            <a:r>
              <a:rPr lang="el-GR" sz="1500" dirty="0" err="1"/>
              <a:t>DevOps</a:t>
            </a:r>
            <a:r>
              <a:rPr lang="el-GR" sz="1500" dirty="0"/>
              <a:t>, </a:t>
            </a:r>
            <a:r>
              <a:rPr lang="el-GR" sz="1500" dirty="0" err="1"/>
              <a:t>Git</a:t>
            </a:r>
            <a:r>
              <a:rPr lang="el-GR" sz="1500" dirty="0"/>
              <a:t>) </a:t>
            </a:r>
          </a:p>
          <a:p>
            <a:r>
              <a:rPr lang="el-GR" sz="1500" dirty="0" err="1"/>
              <a:t>Integration</a:t>
            </a:r>
            <a:r>
              <a:rPr lang="el-GR" sz="1500" dirty="0"/>
              <a:t> με </a:t>
            </a:r>
            <a:r>
              <a:rPr lang="el-GR" sz="1500" b="1" dirty="0"/>
              <a:t>SAP, </a:t>
            </a:r>
            <a:r>
              <a:rPr lang="el-GR" sz="1500" b="1" dirty="0" err="1"/>
              <a:t>Oracle</a:t>
            </a:r>
            <a:r>
              <a:rPr lang="el-GR" sz="1500" b="1" dirty="0"/>
              <a:t>, </a:t>
            </a:r>
            <a:r>
              <a:rPr lang="el-GR" sz="1500" b="1" dirty="0" err="1"/>
              <a:t>Salesforce</a:t>
            </a:r>
            <a:r>
              <a:rPr lang="el-GR" sz="1500" dirty="0"/>
              <a:t> </a:t>
            </a:r>
          </a:p>
          <a:p>
            <a:r>
              <a:rPr lang="el-GR" sz="1500" dirty="0"/>
              <a:t>API </a:t>
            </a:r>
            <a:r>
              <a:rPr lang="el-GR" sz="1500" dirty="0" err="1"/>
              <a:t>testing</a:t>
            </a:r>
            <a:r>
              <a:rPr lang="el-GR" sz="1500" dirty="0"/>
              <a:t> με REST/SOAP υποστήριξη </a:t>
            </a:r>
          </a:p>
          <a:p>
            <a:r>
              <a:rPr lang="el-GR" sz="1500" dirty="0" err="1"/>
              <a:t>Integration</a:t>
            </a:r>
            <a:r>
              <a:rPr lang="el-GR" sz="1500" dirty="0"/>
              <a:t> με </a:t>
            </a:r>
            <a:r>
              <a:rPr lang="el-GR" sz="1500" dirty="0" err="1"/>
              <a:t>test</a:t>
            </a:r>
            <a:r>
              <a:rPr lang="el-GR" sz="1500" dirty="0"/>
              <a:t> </a:t>
            </a:r>
            <a:r>
              <a:rPr lang="el-GR" sz="1500" dirty="0" err="1"/>
              <a:t>management</a:t>
            </a:r>
            <a:r>
              <a:rPr lang="el-GR" sz="1500" dirty="0"/>
              <a:t> &amp; </a:t>
            </a:r>
            <a:r>
              <a:rPr lang="el-GR" sz="1500" dirty="0" err="1"/>
              <a:t>reporting</a:t>
            </a:r>
            <a:r>
              <a:rPr lang="el-GR" sz="1500" dirty="0"/>
              <a:t> </a:t>
            </a:r>
            <a:r>
              <a:rPr lang="el-GR" sz="1500" dirty="0" err="1"/>
              <a:t>tools</a:t>
            </a:r>
            <a:endParaRPr lang="el-GR" sz="1500" dirty="0"/>
          </a:p>
          <a:p>
            <a:pPr marL="0" indent="0">
              <a:buNone/>
            </a:pPr>
            <a:endParaRPr lang="el-GR" sz="1500" dirty="0"/>
          </a:p>
          <a:p>
            <a:endParaRPr lang="el-GR" sz="1500" dirty="0"/>
          </a:p>
        </p:txBody>
      </p:sp>
    </p:spTree>
    <p:extLst>
      <p:ext uri="{BB962C8B-B14F-4D97-AF65-F5344CB8AC3E}">
        <p14:creationId xmlns:p14="http://schemas.microsoft.com/office/powerpoint/2010/main" val="207839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7721-29D1-ADDA-1F48-42EDBDCF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UFT </a:t>
            </a:r>
            <a:r>
              <a:rPr lang="el-GR" b="1" dirty="0" err="1"/>
              <a:t>One</a:t>
            </a:r>
            <a:r>
              <a:rPr lang="el-GR" b="1" dirty="0"/>
              <a:t> </a:t>
            </a: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Value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4C25F-6D64-223B-B581-047EB126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Sales</a:t>
            </a:r>
            <a:r>
              <a:rPr lang="el-GR" b="1" dirty="0"/>
              <a:t> </a:t>
            </a:r>
            <a:r>
              <a:rPr lang="el-GR" b="1" dirty="0" err="1"/>
              <a:t>Points</a:t>
            </a:r>
            <a:r>
              <a:rPr lang="el-GR" b="1" dirty="0"/>
              <a:t> (Επιχειρηματική Αξία)</a:t>
            </a:r>
          </a:p>
          <a:p>
            <a:r>
              <a:rPr lang="el-GR" dirty="0"/>
              <a:t>Αυτοματοποίηση </a:t>
            </a:r>
            <a:r>
              <a:rPr lang="el-GR" dirty="0" err="1"/>
              <a:t>regression</a:t>
            </a:r>
            <a:r>
              <a:rPr lang="el-GR" dirty="0"/>
              <a:t> </a:t>
            </a:r>
            <a:r>
              <a:rPr lang="el-GR" dirty="0" err="1"/>
              <a:t>testing</a:t>
            </a:r>
            <a:r>
              <a:rPr lang="el-GR" dirty="0"/>
              <a:t> σε κάθε </a:t>
            </a:r>
            <a:r>
              <a:rPr lang="el-GR" dirty="0" err="1"/>
              <a:t>release</a:t>
            </a:r>
            <a:r>
              <a:rPr lang="el-GR" dirty="0"/>
              <a:t> </a:t>
            </a:r>
          </a:p>
          <a:p>
            <a:r>
              <a:rPr lang="el-GR" dirty="0"/>
              <a:t>Μείωση </a:t>
            </a:r>
            <a:r>
              <a:rPr lang="el-GR" dirty="0" err="1"/>
              <a:t>manual</a:t>
            </a:r>
            <a:r>
              <a:rPr lang="el-GR" dirty="0"/>
              <a:t> </a:t>
            </a:r>
            <a:r>
              <a:rPr lang="el-GR" dirty="0" err="1"/>
              <a:t>testing</a:t>
            </a:r>
            <a:r>
              <a:rPr lang="el-GR" dirty="0"/>
              <a:t> </a:t>
            </a:r>
            <a:r>
              <a:rPr lang="el-GR" dirty="0" err="1"/>
              <a:t>effort</a:t>
            </a:r>
            <a:r>
              <a:rPr lang="el-GR" dirty="0"/>
              <a:t> και κόστους </a:t>
            </a:r>
          </a:p>
          <a:p>
            <a:r>
              <a:rPr lang="el-GR" dirty="0"/>
              <a:t>Ταχύτερο </a:t>
            </a:r>
            <a:r>
              <a:rPr lang="el-GR" dirty="0" err="1"/>
              <a:t>time-to-market</a:t>
            </a:r>
            <a:r>
              <a:rPr lang="el-GR" dirty="0"/>
              <a:t> </a:t>
            </a:r>
          </a:p>
          <a:p>
            <a:r>
              <a:rPr lang="el-GR" dirty="0"/>
              <a:t>Αυξημένη ποιότητα </a:t>
            </a:r>
            <a:r>
              <a:rPr lang="el-GR" dirty="0" err="1"/>
              <a:t>software</a:t>
            </a:r>
            <a:r>
              <a:rPr lang="el-GR" dirty="0"/>
              <a:t> </a:t>
            </a:r>
            <a:r>
              <a:rPr lang="el-GR" dirty="0" err="1"/>
              <a:t>releases</a:t>
            </a:r>
            <a:r>
              <a:rPr lang="el-GR" dirty="0"/>
              <a:t> </a:t>
            </a:r>
          </a:p>
          <a:p>
            <a:r>
              <a:rPr lang="el-GR" dirty="0" err="1"/>
              <a:t>Early</a:t>
            </a:r>
            <a:r>
              <a:rPr lang="el-GR" dirty="0"/>
              <a:t> </a:t>
            </a:r>
            <a:r>
              <a:rPr lang="el-GR" dirty="0" err="1"/>
              <a:t>detection</a:t>
            </a:r>
            <a:r>
              <a:rPr lang="el-GR" dirty="0"/>
              <a:t> </a:t>
            </a:r>
            <a:r>
              <a:rPr lang="el-GR" dirty="0" err="1"/>
              <a:t>bugs</a:t>
            </a:r>
            <a:r>
              <a:rPr lang="el-GR" dirty="0"/>
              <a:t> σε UI / API </a:t>
            </a:r>
            <a:r>
              <a:rPr lang="el-GR" dirty="0" err="1"/>
              <a:t>flows</a:t>
            </a:r>
            <a:r>
              <a:rPr lang="el-GR" dirty="0"/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900817-7044-ED2D-3815-34E8970D45C0}"/>
              </a:ext>
            </a:extLst>
          </p:cNvPr>
          <p:cNvSpPr txBox="1">
            <a:spLocks/>
          </p:cNvSpPr>
          <p:nvPr/>
        </p:nvSpPr>
        <p:spPr>
          <a:xfrm>
            <a:off x="521446" y="5604113"/>
            <a:ext cx="10515600" cy="2802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«Εξασφαλίστε ότι η εφαρμογή σας λειτουργεί σωστά μετά από κάθε αλλαγή ή νέα έκδοση.»</a:t>
            </a:r>
            <a:endParaRPr lang="el-G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55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F1F7-9635-CF8E-207F-455F1630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Ολοκληρωμένη Στρατηγική Ποιότητας &amp; Απόδοσης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A78DA-C91D-4D54-CBA3-4DA0F3978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l-GR" b="1" dirty="0" err="1"/>
              <a:t>End-to-End</a:t>
            </a:r>
            <a:r>
              <a:rPr lang="el-GR" b="1" dirty="0"/>
              <a:t> Quality &amp; </a:t>
            </a:r>
            <a:r>
              <a:rPr lang="el-GR" b="1" dirty="0" err="1"/>
              <a:t>Performance</a:t>
            </a:r>
            <a:r>
              <a:rPr lang="el-GR" b="1" dirty="0"/>
              <a:t> </a:t>
            </a:r>
            <a:r>
              <a:rPr lang="el-GR" b="1" dirty="0" err="1"/>
              <a:t>Strategy</a:t>
            </a:r>
            <a:endParaRPr lang="el-GR" b="1" dirty="0"/>
          </a:p>
          <a:p>
            <a:r>
              <a:rPr lang="el-GR" dirty="0"/>
              <a:t>Η επιχείρηση δεν χρειάζεται να διαλέξει μεταξύ </a:t>
            </a:r>
            <a:r>
              <a:rPr lang="el-GR" dirty="0" err="1"/>
              <a:t>performance</a:t>
            </a:r>
            <a:r>
              <a:rPr lang="el-GR" dirty="0"/>
              <a:t> και </a:t>
            </a:r>
            <a:r>
              <a:rPr lang="el-GR" dirty="0" err="1"/>
              <a:t>functional</a:t>
            </a:r>
            <a:r>
              <a:rPr lang="el-GR" dirty="0"/>
              <a:t> </a:t>
            </a:r>
            <a:r>
              <a:rPr lang="el-GR" dirty="0" err="1"/>
              <a:t>quality</a:t>
            </a:r>
            <a:r>
              <a:rPr lang="el-GR" dirty="0"/>
              <a:t> — χρειάζεται και τα δύο.</a:t>
            </a:r>
          </a:p>
          <a:p>
            <a:r>
              <a:rPr lang="el-GR" dirty="0"/>
              <a:t>UFT </a:t>
            </a:r>
            <a:r>
              <a:rPr lang="el-GR" dirty="0" err="1"/>
              <a:t>One</a:t>
            </a:r>
            <a:r>
              <a:rPr lang="el-GR" dirty="0"/>
              <a:t> εξασφαλίζει ότι η εφαρμογή </a:t>
            </a:r>
            <a:r>
              <a:rPr lang="el-GR" b="1" dirty="0"/>
              <a:t>δουλεύει σωστά σε κάθε </a:t>
            </a:r>
            <a:r>
              <a:rPr lang="el-GR" b="1" dirty="0" err="1"/>
              <a:t>release</a:t>
            </a:r>
            <a:r>
              <a:rPr lang="el-GR" dirty="0"/>
              <a:t> </a:t>
            </a:r>
          </a:p>
          <a:p>
            <a:r>
              <a:rPr lang="el-GR" dirty="0" err="1"/>
              <a:t>LoadRunner</a:t>
            </a:r>
            <a:r>
              <a:rPr lang="el-GR" dirty="0"/>
              <a:t> εξασφαλίζει ότι η εφαρμογή </a:t>
            </a:r>
            <a:r>
              <a:rPr lang="el-GR" b="1" dirty="0"/>
              <a:t>αντέχει σε πραγματικές συνθήκες φόρτου</a:t>
            </a:r>
            <a:r>
              <a:rPr lang="el-GR" dirty="0"/>
              <a:t> </a:t>
            </a:r>
          </a:p>
          <a:p>
            <a:pPr marL="0" indent="0">
              <a:buNone/>
            </a:pPr>
            <a:endParaRPr lang="el-GR" b="1" dirty="0"/>
          </a:p>
          <a:p>
            <a:pPr marL="0" indent="0">
              <a:buNone/>
            </a:pPr>
            <a:r>
              <a:rPr lang="el-GR" b="1" dirty="0"/>
              <a:t> </a:t>
            </a:r>
            <a:r>
              <a:rPr lang="el-GR" b="1" dirty="0" err="1"/>
              <a:t>Business</a:t>
            </a:r>
            <a:r>
              <a:rPr lang="el-GR" b="1" dirty="0"/>
              <a:t> </a:t>
            </a:r>
            <a:r>
              <a:rPr lang="el-GR" b="1" dirty="0" err="1"/>
              <a:t>Impact</a:t>
            </a:r>
            <a:endParaRPr lang="el-GR" b="1" dirty="0"/>
          </a:p>
          <a:p>
            <a:r>
              <a:rPr lang="el-GR" dirty="0"/>
              <a:t>Μείωση </a:t>
            </a:r>
            <a:r>
              <a:rPr lang="el-GR" dirty="0" err="1"/>
              <a:t>production</a:t>
            </a:r>
            <a:r>
              <a:rPr lang="el-GR" dirty="0"/>
              <a:t> </a:t>
            </a:r>
            <a:r>
              <a:rPr lang="el-GR" dirty="0" err="1"/>
              <a:t>failures</a:t>
            </a:r>
            <a:r>
              <a:rPr lang="el-GR" dirty="0"/>
              <a:t> </a:t>
            </a:r>
          </a:p>
          <a:p>
            <a:r>
              <a:rPr lang="el-GR" dirty="0"/>
              <a:t>Ταχύτερα και πιο ασφαλή </a:t>
            </a:r>
            <a:r>
              <a:rPr lang="el-GR" dirty="0" err="1"/>
              <a:t>releases</a:t>
            </a:r>
            <a:r>
              <a:rPr lang="el-GR" dirty="0"/>
              <a:t> </a:t>
            </a:r>
          </a:p>
          <a:p>
            <a:r>
              <a:rPr lang="el-GR" dirty="0"/>
              <a:t>Καλύτερη εμπειρία πελάτη </a:t>
            </a:r>
          </a:p>
          <a:p>
            <a:r>
              <a:rPr lang="el-GR" dirty="0"/>
              <a:t>Μείωση κόστους από </a:t>
            </a:r>
            <a:r>
              <a:rPr lang="el-GR" dirty="0" err="1"/>
              <a:t>bugs</a:t>
            </a:r>
            <a:r>
              <a:rPr lang="el-GR" dirty="0"/>
              <a:t> και </a:t>
            </a:r>
            <a:r>
              <a:rPr lang="el-GR" dirty="0" err="1"/>
              <a:t>downtime</a:t>
            </a:r>
            <a:br>
              <a:rPr lang="el-GR" dirty="0"/>
            </a:br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408B7-BB49-CB9F-709C-78FB9845F0E9}"/>
              </a:ext>
            </a:extLst>
          </p:cNvPr>
          <p:cNvSpPr txBox="1"/>
          <p:nvPr/>
        </p:nvSpPr>
        <p:spPr>
          <a:xfrm>
            <a:off x="1880251" y="6019800"/>
            <a:ext cx="8431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l-GR" sz="1200" dirty="0"/>
          </a:p>
          <a:p>
            <a:pPr marL="0" indent="0" algn="ctr">
              <a:buNone/>
            </a:pPr>
            <a:r>
              <a:rPr lang="el-GR" sz="1200" dirty="0"/>
              <a:t>«Ποιότητα + Απόδοση = Εμπιστοσύνη σε κάθε έκδοση.»</a:t>
            </a:r>
          </a:p>
        </p:txBody>
      </p:sp>
    </p:spTree>
    <p:extLst>
      <p:ext uri="{BB962C8B-B14F-4D97-AF65-F5344CB8AC3E}">
        <p14:creationId xmlns:p14="http://schemas.microsoft.com/office/powerpoint/2010/main" val="2230515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72</TotalTime>
  <Words>417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LoadRunner VS UTF ONE</vt:lpstr>
      <vt:lpstr>Load Testing vs Regression Testing</vt:lpstr>
      <vt:lpstr>Παραδείγματα χρήσης</vt:lpstr>
      <vt:lpstr>LoadRunner Integration</vt:lpstr>
      <vt:lpstr>LoadRunner Key Value</vt:lpstr>
      <vt:lpstr>UFT One Integration</vt:lpstr>
      <vt:lpstr>UFT One Key Value</vt:lpstr>
      <vt:lpstr>Ολοκληρωμένη Στρατηγική Ποιότητας &amp; Απόδοσης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Anastasia Dimitriadi</dc:creator>
  <cp:lastModifiedBy>Anastasia Dimitriadi</cp:lastModifiedBy>
  <cp:revision>3</cp:revision>
  <dcterms:created xsi:type="dcterms:W3CDTF">2026-06-07T14:08:34Z</dcterms:created>
  <dcterms:modified xsi:type="dcterms:W3CDTF">2026-06-07T15:20:53Z</dcterms:modified>
</cp:coreProperties>
</file>